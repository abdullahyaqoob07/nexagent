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ileron" charset="1" panose="00000500000000000000"/>
      <p:regular r:id="rId17"/>
    </p:embeddedFont>
    <p:embeddedFont>
      <p:font typeface="Aileron Bold" charset="1" panose="00000800000000000000"/>
      <p:regular r:id="rId21"/>
    </p:embeddedFont>
    <p:embeddedFont>
      <p:font typeface="Aileron Light" charset="1" panose="000004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One article mentions multitasking reducing productivity in SMEs by up to 40% because switching contexts wastes time. That partially supports your “40% productivity loss” idea.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https://www.dawn.com/news/1664817/the-digital-transformation-of-smes?utm_source=chatgpt.com" TargetMode="External" Type="http://schemas.openxmlformats.org/officeDocument/2006/relationships/hyperlink"/><Relationship Id="rId6" Target="https://www.mdpi.com/2071-1050/16/17/7351?utm_source=chatgpt.com" TargetMode="External" Type="http://schemas.openxmlformats.org/officeDocument/2006/relationships/hyperlink"/><Relationship Id="rId7" Target="https://www.brecorder.com/news/4563299?utm_source=chatgpt.com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Relationship Id="rId4" Target="https://www.nextmsc.com/report/digital-transformation-market?utm_source=chatgpt.com" TargetMode="External" Type="http://schemas.openxmlformats.org/officeDocument/2006/relationships/hyperlink"/><Relationship Id="rId5" Target="https://market.us/report/agentic-ai-market/" TargetMode="External" Type="http://schemas.openxmlformats.org/officeDocument/2006/relationships/hyperlink"/><Relationship Id="rId6" Target="https://tribune.com.pk/story/2406360/smes-have-40b-export-potential-iqbal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6.jpeg" Type="http://schemas.openxmlformats.org/officeDocument/2006/relationships/image"/><Relationship Id="rId4" Target="../media/image17.jpeg" Type="http://schemas.openxmlformats.org/officeDocument/2006/relationships/image"/><Relationship Id="rId5" Target="../media/image18.png" Type="http://schemas.openxmlformats.org/officeDocument/2006/relationships/image"/><Relationship Id="rId6" Target="../media/image1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https://nex-agent-azure.vercel.app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4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8225" y="2267904"/>
            <a:ext cx="16900864" cy="5996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66"/>
              </a:lnSpc>
            </a:pPr>
            <a:r>
              <a:rPr lang="en-US" sz="23066" spc="-172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NEX</a:t>
            </a:r>
          </a:p>
          <a:p>
            <a:pPr algn="l" marL="0" indent="0" lvl="1">
              <a:lnSpc>
                <a:spcPts val="23066"/>
              </a:lnSpc>
            </a:pPr>
            <a:r>
              <a:rPr lang="en-US" sz="23066" spc="-1729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AGENT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428237" y="2715263"/>
            <a:ext cx="5073864" cy="91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549"/>
              </a:lnSpc>
              <a:spcBef>
                <a:spcPct val="0"/>
              </a:spcBef>
            </a:pPr>
            <a:r>
              <a:rPr lang="en-US" sz="354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“SCALING AI-POWERED SOLUTIONS”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5829" y="8997647"/>
            <a:ext cx="1513471" cy="25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0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4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20549" y="2000520"/>
            <a:ext cx="2847494" cy="2523591"/>
          </a:xfrm>
          <a:custGeom>
            <a:avLst/>
            <a:gdLst/>
            <a:ahLst/>
            <a:cxnLst/>
            <a:rect r="r" b="b" t="t" l="l"/>
            <a:pathLst>
              <a:path h="2523591" w="2847494">
                <a:moveTo>
                  <a:pt x="0" y="0"/>
                </a:moveTo>
                <a:lnTo>
                  <a:pt x="2847494" y="0"/>
                </a:lnTo>
                <a:lnTo>
                  <a:pt x="2847494" y="2523591"/>
                </a:lnTo>
                <a:lnTo>
                  <a:pt x="0" y="25235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71415"/>
            <a:ext cx="6523645" cy="35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57"/>
              </a:lnSpc>
            </a:pPr>
            <a:r>
              <a:rPr lang="en-US" sz="265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NEXAGENT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486956" y="5136311"/>
            <a:ext cx="4514679" cy="793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1"/>
              </a:lnSpc>
            </a:pP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Before NexAgent → High Cost, </a:t>
            </a:r>
          </a:p>
          <a:p>
            <a:pPr algn="just" marL="0" indent="0" lvl="1">
              <a:lnSpc>
                <a:spcPts val="3111"/>
              </a:lnSpc>
            </a:pP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High Complexity, Low Support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4355" y="5301094"/>
            <a:ext cx="7360868" cy="468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721"/>
              </a:lnSpc>
            </a:pPr>
            <a:r>
              <a:rPr lang="en-US" b="true" sz="305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Why SMEs Struggle With Automation: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6237" y="6160122"/>
            <a:ext cx="10376373" cy="2846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9875" indent="-274937" lvl="1">
              <a:lnSpc>
                <a:spcPts val="3820"/>
              </a:lnSpc>
              <a:buFont typeface="Arial"/>
              <a:buChar char="•"/>
            </a:pPr>
            <a:r>
              <a:rPr lang="en-US" sz="25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SMEs contribute ~40% of Pakistan’s GDP and employ ~80% of non-agricultural workforce. ~</a:t>
            </a:r>
            <a:r>
              <a:rPr lang="en-US" sz="2546" u="sng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  <a:hlinkClick r:id="rId5" tooltip="https://www.dawn.com/news/1664817/the-digital-transformation-of-smes?utm_source=chatgpt.com"/>
              </a:rPr>
              <a:t> Dawn</a:t>
            </a:r>
            <a:r>
              <a:rPr lang="en-US" sz="25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</a:p>
          <a:p>
            <a:pPr algn="l" marL="549875" indent="-274937" lvl="1">
              <a:lnSpc>
                <a:spcPts val="3820"/>
              </a:lnSpc>
              <a:buFont typeface="Arial"/>
              <a:buChar char="•"/>
            </a:pPr>
            <a:r>
              <a:rPr lang="en-US" sz="25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Only 23% of SMEs use digital technologies, leaving most businesses manual and inefficient. ~</a:t>
            </a:r>
            <a:r>
              <a:rPr lang="en-US" sz="2546" u="sng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  <a:hlinkClick r:id="rId6" tooltip="https://www.mdpi.com/2071-1050/16/17/7351?utm_source=chatgpt.com"/>
              </a:rPr>
              <a:t> MDPI</a:t>
            </a:r>
            <a:r>
              <a:rPr lang="en-US" sz="25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</a:p>
          <a:p>
            <a:pPr algn="l" marL="549875" indent="-274937" lvl="1">
              <a:lnSpc>
                <a:spcPts val="3820"/>
              </a:lnSpc>
              <a:buFont typeface="Arial"/>
              <a:buChar char="•"/>
            </a:pPr>
            <a:r>
              <a:rPr lang="en-US" sz="254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Digitally enabled SMEs grow at ~19% YoY, compared to 10% for traditional SMEs, showing the lost opportunity ~ </a:t>
            </a:r>
            <a:r>
              <a:rPr lang="en-US" sz="2546" u="sng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  <a:hlinkClick r:id="rId7" tooltip="https://www.brecorder.com/news/4563299?utm_source=chatgpt.com"/>
              </a:rPr>
              <a:t>Business Recorder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45829" y="8997647"/>
            <a:ext cx="1513471" cy="25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0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PAGE 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1910313"/>
            <a:ext cx="7476523" cy="2923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1206"/>
              </a:lnSpc>
            </a:pPr>
            <a:r>
              <a:rPr lang="en-US" sz="11206" spc="-84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PROBLEM </a:t>
            </a:r>
            <a:r>
              <a:rPr lang="en-US" sz="11206" spc="-840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64979" y="7008221"/>
            <a:ext cx="1557798" cy="1575522"/>
          </a:xfrm>
          <a:custGeom>
            <a:avLst/>
            <a:gdLst/>
            <a:ahLst/>
            <a:cxnLst/>
            <a:rect r="r" b="b" t="t" l="l"/>
            <a:pathLst>
              <a:path h="1575522" w="1557798">
                <a:moveTo>
                  <a:pt x="0" y="0"/>
                </a:moveTo>
                <a:lnTo>
                  <a:pt x="1557797" y="0"/>
                </a:lnTo>
                <a:lnTo>
                  <a:pt x="1557797" y="1575522"/>
                </a:lnTo>
                <a:lnTo>
                  <a:pt x="0" y="15755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09880" y="1373952"/>
            <a:ext cx="7549420" cy="4805828"/>
          </a:xfrm>
          <a:custGeom>
            <a:avLst/>
            <a:gdLst/>
            <a:ahLst/>
            <a:cxnLst/>
            <a:rect r="r" b="b" t="t" l="l"/>
            <a:pathLst>
              <a:path h="4805828" w="7549420">
                <a:moveTo>
                  <a:pt x="0" y="0"/>
                </a:moveTo>
                <a:lnTo>
                  <a:pt x="7549420" y="0"/>
                </a:lnTo>
                <a:lnTo>
                  <a:pt x="7549420" y="4805828"/>
                </a:lnTo>
                <a:lnTo>
                  <a:pt x="0" y="4805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71415"/>
            <a:ext cx="6523645" cy="35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57"/>
              </a:lnSpc>
            </a:pPr>
            <a:r>
              <a:rPr lang="en-US" sz="2657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NEXAGENT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5829" y="8997647"/>
            <a:ext cx="1513471" cy="25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0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PAGE 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1915865"/>
            <a:ext cx="6086839" cy="2923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11206"/>
              </a:lnSpc>
            </a:pPr>
            <a:r>
              <a:rPr lang="en-US" sz="11206" spc="-840">
                <a:solidFill>
                  <a:srgbClr val="1E1E1E"/>
                </a:solidFill>
                <a:latin typeface="Aileron Light"/>
                <a:ea typeface="Aileron Light"/>
                <a:cs typeface="Aileron Light"/>
                <a:sym typeface="Aileron Light"/>
              </a:rPr>
              <a:t>OUR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151205"/>
            <a:ext cx="9309903" cy="274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0545" indent="-275272" lvl="1">
              <a:lnSpc>
                <a:spcPts val="3111"/>
              </a:lnSpc>
              <a:buFont typeface="Arial"/>
              <a:buChar char="•"/>
            </a:pPr>
            <a:r>
              <a:rPr lang="en-US" b="true" sz="2550">
                <a:solidFill>
                  <a:srgbClr val="FF4A0A"/>
                </a:solidFill>
                <a:latin typeface="Aileron Bold"/>
                <a:ea typeface="Aileron Bold"/>
                <a:cs typeface="Aileron Bold"/>
                <a:sym typeface="Aileron Bold"/>
              </a:rPr>
              <a:t>Plug-and-Play Workflows → </a:t>
            </a:r>
            <a:r>
              <a:rPr lang="en-US" sz="255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Build custom automations with zero coding through a drag-and-drop interface.</a:t>
            </a:r>
          </a:p>
          <a:p>
            <a:pPr algn="just" marL="550545" indent="-275272" lvl="1">
              <a:lnSpc>
                <a:spcPts val="3111"/>
              </a:lnSpc>
              <a:buFont typeface="Arial"/>
              <a:buChar char="•"/>
            </a:pPr>
            <a:r>
              <a:rPr lang="en-US" b="true" sz="2550">
                <a:solidFill>
                  <a:srgbClr val="FF4A0A"/>
                </a:solidFill>
                <a:latin typeface="Aileron Bold"/>
                <a:ea typeface="Aileron Bold"/>
                <a:cs typeface="Aileron Bold"/>
                <a:sym typeface="Aileron Bold"/>
              </a:rPr>
              <a:t>Prompt-to-Ag</a:t>
            </a:r>
            <a:r>
              <a:rPr lang="en-US" b="true" sz="2550">
                <a:solidFill>
                  <a:srgbClr val="FF4A0A"/>
                </a:solidFill>
                <a:latin typeface="Aileron Bold"/>
                <a:ea typeface="Aileron Bold"/>
                <a:cs typeface="Aileron Bold"/>
                <a:sym typeface="Aileron Bold"/>
              </a:rPr>
              <a:t>ent → </a:t>
            </a:r>
            <a:r>
              <a:rPr lang="en-US" sz="255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Simply describe your task, and NexAgent will auto-generate the required integrations and workflow.</a:t>
            </a:r>
          </a:p>
          <a:p>
            <a:pPr algn="just" marL="550545" indent="-275272" lvl="1">
              <a:lnSpc>
                <a:spcPts val="3111"/>
              </a:lnSpc>
              <a:buFont typeface="Arial"/>
              <a:buChar char="•"/>
            </a:pPr>
            <a:r>
              <a:rPr lang="en-US" b="true" sz="2550">
                <a:solidFill>
                  <a:srgbClr val="FF4A0A"/>
                </a:solidFill>
                <a:latin typeface="Aileron Bold"/>
                <a:ea typeface="Aileron Bold"/>
                <a:cs typeface="Aileron Bold"/>
                <a:sym typeface="Aileron Bold"/>
              </a:rPr>
              <a:t>Agentic AI Core → </a:t>
            </a:r>
            <a:r>
              <a:rPr lang="en-US" sz="255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Autonomous agents that self-orchestrate tasks, optimize resources, and adapt workflows in real time.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4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289298" y="1171131"/>
            <a:ext cx="7194809" cy="654528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771415"/>
            <a:ext cx="6523645" cy="35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57"/>
              </a:lnSpc>
            </a:pPr>
            <a:r>
              <a:rPr lang="en-US" sz="265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NEXAGENT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5829" y="8997647"/>
            <a:ext cx="1513471" cy="25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0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PAGE 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7750" y="1953573"/>
            <a:ext cx="7563661" cy="249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539"/>
              </a:lnSpc>
            </a:pPr>
            <a:r>
              <a:rPr lang="en-US" sz="9539" spc="-715">
                <a:solidFill>
                  <a:srgbClr val="FFFFFF"/>
                </a:solidFill>
                <a:latin typeface="Aileron Light"/>
                <a:ea typeface="Aileron Light"/>
                <a:cs typeface="Aileron Light"/>
                <a:sym typeface="Aileron Light"/>
              </a:rPr>
              <a:t>MARKET </a:t>
            </a:r>
            <a:r>
              <a:rPr lang="en-US" sz="9539" spc="-715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OPPORTUNITY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5286375"/>
            <a:ext cx="8835781" cy="313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0545" indent="-275272" lvl="1">
              <a:lnSpc>
                <a:spcPts val="3111"/>
              </a:lnSpc>
              <a:buFont typeface="Arial"/>
              <a:buChar char="•"/>
            </a:pPr>
            <a:r>
              <a:rPr lang="en-US" b="true" sz="255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TAM (Global AI &amp; Automation)</a:t>
            </a: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: $279B in 2024, projec</a:t>
            </a: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</a:t>
            </a: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ed to reach $1.8T by 2030. ~</a:t>
            </a:r>
            <a:r>
              <a:rPr lang="en-US" sz="2550" u="sng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  <a:hlinkClick r:id="rId4" tooltip="https://www.nextmsc.com/report/digital-transformation-market?utm_source=chatgpt.com"/>
              </a:rPr>
              <a:t> nextmsc.com</a:t>
            </a:r>
          </a:p>
          <a:p>
            <a:pPr algn="just" marL="550545" indent="-275272" lvl="1">
              <a:lnSpc>
                <a:spcPts val="3111"/>
              </a:lnSpc>
              <a:buFont typeface="Arial"/>
              <a:buChar char="•"/>
            </a:pPr>
            <a:r>
              <a:rPr lang="en-US" b="true" sz="255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SAM (Emerging Market SMEs): </a:t>
            </a: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~$23B opportunity in workflow automation across SMEs in developing economies. ~ </a:t>
            </a:r>
            <a:r>
              <a:rPr lang="en-US" sz="2550" u="sng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  <a:hlinkClick r:id="rId5" tooltip="https://market.us/report/agentic-ai-market/"/>
              </a:rPr>
              <a:t>Market.us</a:t>
            </a:r>
          </a:p>
          <a:p>
            <a:pPr algn="just" marL="550545" indent="-275272" lvl="1">
              <a:lnSpc>
                <a:spcPts val="3111"/>
              </a:lnSpc>
              <a:buFont typeface="Arial"/>
              <a:buChar char="•"/>
            </a:pPr>
            <a:r>
              <a:rPr lang="en-US" b="true" sz="255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SOM (Pakistan SME Segment): </a:t>
            </a: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~$500M opportunity, based on 5.2M SMEs (40% of GDP, 80% of workforce) with low automation adoption. ~</a:t>
            </a:r>
            <a:r>
              <a:rPr lang="en-US" sz="2550" u="sng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  <a:hlinkClick r:id="rId6" tooltip="https://tribune.com.pk/story/2406360/smes-have-40b-export-potential-iqbal"/>
              </a:rPr>
              <a:t>The Express Tribune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7234" y="1969203"/>
            <a:ext cx="12933037" cy="150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1206"/>
              </a:lnSpc>
            </a:pPr>
            <a:r>
              <a:rPr lang="en-US" sz="11206" spc="-840">
                <a:solidFill>
                  <a:srgbClr val="1E1E1E"/>
                </a:solidFill>
                <a:latin typeface="Aileron Light"/>
                <a:ea typeface="Aileron Light"/>
                <a:cs typeface="Aileron Light"/>
                <a:sym typeface="Aileron Light"/>
              </a:rPr>
              <a:t>BUSINESS MODEL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387147" y="1947322"/>
            <a:ext cx="2872153" cy="2872153"/>
          </a:xfrm>
          <a:custGeom>
            <a:avLst/>
            <a:gdLst/>
            <a:ahLst/>
            <a:cxnLst/>
            <a:rect r="r" b="b" t="t" l="l"/>
            <a:pathLst>
              <a:path h="2872153" w="2872153">
                <a:moveTo>
                  <a:pt x="0" y="0"/>
                </a:moveTo>
                <a:lnTo>
                  <a:pt x="2872153" y="0"/>
                </a:lnTo>
                <a:lnTo>
                  <a:pt x="2872153" y="2872153"/>
                </a:lnTo>
                <a:lnTo>
                  <a:pt x="0" y="28721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771415"/>
            <a:ext cx="6523645" cy="35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57"/>
              </a:lnSpc>
            </a:pPr>
            <a:r>
              <a:rPr lang="en-US" sz="2657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NEXAGENT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45829" y="8997647"/>
            <a:ext cx="1513471" cy="25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0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PAGE 05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4441063"/>
            <a:ext cx="10910149" cy="793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111"/>
              </a:lnSpc>
            </a:pPr>
            <a:r>
              <a:rPr lang="en-US" b="true" sz="2550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NexAgent’s business model leverages multiple revenue streams, driving both sustainable growth and scalable expansion.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6273919"/>
            <a:ext cx="3583461" cy="468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720"/>
              </a:lnSpc>
            </a:pPr>
            <a:r>
              <a:rPr lang="en-US" b="true" sz="3049">
                <a:solidFill>
                  <a:srgbClr val="FF4A0A"/>
                </a:solidFill>
                <a:latin typeface="Aileron Bold"/>
                <a:ea typeface="Aileron Bold"/>
                <a:cs typeface="Aileron Bold"/>
                <a:sym typeface="Aileron Bold"/>
              </a:rPr>
              <a:t>Subscription Plans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61452" y="6273919"/>
            <a:ext cx="3895340" cy="468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720"/>
              </a:lnSpc>
            </a:pPr>
            <a:r>
              <a:rPr lang="en-US" b="true" sz="3049">
                <a:solidFill>
                  <a:srgbClr val="FF4A0A"/>
                </a:solidFill>
                <a:latin typeface="Aileron Bold"/>
                <a:ea typeface="Aileron Bold"/>
                <a:cs typeface="Aileron Bold"/>
                <a:sym typeface="Aileron Bold"/>
              </a:rPr>
              <a:t>Enterprise Licensing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69209" y="6273919"/>
            <a:ext cx="4211346" cy="468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720"/>
              </a:lnSpc>
            </a:pPr>
            <a:r>
              <a:rPr lang="en-US" b="true" sz="3049">
                <a:solidFill>
                  <a:srgbClr val="FF4A0A"/>
                </a:solidFill>
                <a:latin typeface="Aileron Bold"/>
                <a:ea typeface="Aileron Bold"/>
                <a:cs typeface="Aileron Bold"/>
                <a:sym typeface="Aileron Bold"/>
              </a:rPr>
              <a:t>Marketplace Revenue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6916996"/>
            <a:ext cx="5025547" cy="1574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110"/>
              </a:lnSpc>
            </a:pPr>
            <a:r>
              <a:rPr lang="en-US" sz="2549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Access NexA’s AI workflow builder with tiered plans offering more usage, features, and support. Starter Offer from 15$/Month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61452" y="6916996"/>
            <a:ext cx="4765095" cy="1574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110"/>
              </a:lnSpc>
            </a:pPr>
            <a:r>
              <a:rPr lang="en-US" sz="2549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Custom NexA deployments with dedicated support, compliance, and integrations for large clients. Pro Offer from 45$/Month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69209" y="6916996"/>
            <a:ext cx="4762739" cy="1574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110"/>
              </a:lnSpc>
            </a:pPr>
            <a:r>
              <a:rPr lang="en-US" sz="2549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Commissions from third-party workflows, connectors, and AI apps sold via NexA’s marketplace. Custom Offer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4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1953573"/>
            <a:ext cx="7563661" cy="249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539"/>
              </a:lnSpc>
            </a:pPr>
            <a:r>
              <a:rPr lang="en-US" sz="9539" spc="-715">
                <a:solidFill>
                  <a:srgbClr val="FFFFFF"/>
                </a:solidFill>
                <a:latin typeface="Aileron Light"/>
                <a:ea typeface="Aileron Light"/>
                <a:cs typeface="Aileron Light"/>
                <a:sym typeface="Aileron Light"/>
              </a:rPr>
              <a:t>PRODUCT </a:t>
            </a:r>
            <a:r>
              <a:rPr lang="en-US" sz="9539" spc="-715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262574" y="4443770"/>
            <a:ext cx="5996726" cy="2978399"/>
            <a:chOff x="0" y="0"/>
            <a:chExt cx="7995634" cy="397119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6414357" cy="12437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58496" indent="-329248" lvl="1">
                <a:lnSpc>
                  <a:spcPts val="3721"/>
                </a:lnSpc>
                <a:buFont typeface="Arial"/>
                <a:buChar char="•"/>
              </a:pPr>
              <a:r>
                <a:rPr lang="en-US" b="true" sz="3050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AI-powered workflow orchestration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670933"/>
              <a:ext cx="7995634" cy="621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58496" indent="-329248" lvl="1">
                <a:lnSpc>
                  <a:spcPts val="3721"/>
                </a:lnSpc>
                <a:buFont typeface="Arial"/>
                <a:buChar char="•"/>
              </a:pPr>
              <a:r>
                <a:rPr lang="en-US" b="true" sz="3050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No-code drag &amp; drop builder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727404"/>
              <a:ext cx="6986653" cy="12437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58496" indent="-329248" lvl="1">
                <a:lnSpc>
                  <a:spcPts val="3721"/>
                </a:lnSpc>
                <a:buFont typeface="Arial"/>
                <a:buChar char="•"/>
              </a:pPr>
              <a:r>
                <a:rPr lang="en-US" b="true" sz="3050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Prompt-based workflow integrations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771415"/>
            <a:ext cx="6523645" cy="35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57"/>
              </a:lnSpc>
            </a:pPr>
            <a:r>
              <a:rPr lang="en-US" sz="265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NEXAGENT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45829" y="8997647"/>
            <a:ext cx="1513471" cy="25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0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PAGE 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58357" y="2097520"/>
            <a:ext cx="10471379" cy="1086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330"/>
              </a:lnSpc>
            </a:pPr>
            <a:r>
              <a:rPr lang="en-US" b="true" sz="354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Seamless AI-Driven Workflow Automation for Business Growth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25258" y="4862619"/>
            <a:ext cx="4841306" cy="3392582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696112" y="4862619"/>
            <a:ext cx="4841306" cy="3392582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61367" y="5572889"/>
            <a:ext cx="4841306" cy="33925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51351" y="1994912"/>
            <a:ext cx="2039869" cy="2375393"/>
          </a:xfrm>
          <a:custGeom>
            <a:avLst/>
            <a:gdLst/>
            <a:ahLst/>
            <a:cxnLst/>
            <a:rect r="r" b="b" t="t" l="l"/>
            <a:pathLst>
              <a:path h="2375393" w="2039869">
                <a:moveTo>
                  <a:pt x="0" y="0"/>
                </a:moveTo>
                <a:lnTo>
                  <a:pt x="2039869" y="0"/>
                </a:lnTo>
                <a:lnTo>
                  <a:pt x="2039869" y="2375393"/>
                </a:lnTo>
                <a:lnTo>
                  <a:pt x="0" y="2375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71415"/>
            <a:ext cx="6523645" cy="35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57"/>
              </a:lnSpc>
            </a:pPr>
            <a:r>
              <a:rPr lang="en-US" sz="2657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NEXAGENT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5829" y="8997647"/>
            <a:ext cx="1513471" cy="25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0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PAGE 07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7234" y="2194937"/>
            <a:ext cx="12801159" cy="150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1206"/>
              </a:lnSpc>
            </a:pPr>
            <a:r>
              <a:rPr lang="en-US" sz="11206" spc="-840">
                <a:solidFill>
                  <a:srgbClr val="1E1E1E"/>
                </a:solidFill>
                <a:latin typeface="Aileron Light"/>
                <a:ea typeface="Aileron Light"/>
                <a:cs typeface="Aileron Light"/>
                <a:sym typeface="Aileron Light"/>
              </a:rPr>
              <a:t>TRACTION &amp; GROWTH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7750" y="4258133"/>
            <a:ext cx="12500354" cy="1477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0"/>
              </a:lnSpc>
            </a:pPr>
            <a:r>
              <a:rPr lang="en-US" sz="3549" b="true">
                <a:solidFill>
                  <a:srgbClr val="FF4A0A"/>
                </a:solidFill>
                <a:latin typeface="Aileron Bold"/>
                <a:ea typeface="Aileron Bold"/>
                <a:cs typeface="Aileron Bold"/>
                <a:sym typeface="Aileron Bold"/>
              </a:rPr>
              <a:t>Current Status:</a:t>
            </a:r>
          </a:p>
          <a:p>
            <a:pPr algn="just" marL="0" indent="0" lvl="1">
              <a:lnSpc>
                <a:spcPts val="3720"/>
              </a:lnSpc>
            </a:pPr>
            <a:r>
              <a:rPr lang="en-US" sz="3049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MVP under development (drag-and-drop builder + Agentic AI prompt feature)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43698" y="6107761"/>
            <a:ext cx="4600604" cy="54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4330"/>
              </a:lnSpc>
            </a:pPr>
            <a:r>
              <a:rPr lang="en-US" b="true" sz="3549">
                <a:solidFill>
                  <a:srgbClr val="FF4A0A"/>
                </a:solidFill>
                <a:latin typeface="Aileron Bold"/>
                <a:ea typeface="Aileron Bold"/>
                <a:cs typeface="Aileron Bold"/>
                <a:sym typeface="Aileron Bold"/>
              </a:rPr>
              <a:t>Future Milestones: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62921" y="7165544"/>
            <a:ext cx="3343289" cy="93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305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Q1 2027: </a:t>
            </a:r>
          </a:p>
          <a:p>
            <a:pPr algn="l" marL="0" indent="0" lvl="1">
              <a:lnSpc>
                <a:spcPts val="3721"/>
              </a:lnSpc>
            </a:pPr>
            <a:r>
              <a:rPr lang="en-US" sz="305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2</a:t>
            </a:r>
            <a:r>
              <a:rPr lang="en-US" sz="305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,500+ active users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1790" y="7165544"/>
            <a:ext cx="2360497" cy="93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305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Q2 2026: </a:t>
            </a:r>
          </a:p>
          <a:p>
            <a:pPr algn="l" marL="0" indent="0" lvl="1">
              <a:lnSpc>
                <a:spcPts val="3721"/>
              </a:lnSpc>
            </a:pPr>
            <a:r>
              <a:rPr lang="en-US" sz="305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MVP Launch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07690" y="7165544"/>
            <a:ext cx="6272620" cy="1401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3050" b="true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Q3 2026: </a:t>
            </a:r>
          </a:p>
          <a:p>
            <a:pPr algn="l" marL="0" indent="0" lvl="1">
              <a:lnSpc>
                <a:spcPts val="3721"/>
              </a:lnSpc>
            </a:pPr>
            <a:r>
              <a:rPr lang="en-US" sz="305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Paid subscriptions live (Starter &amp; Pro tiers).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4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143608" y="5302273"/>
          <a:ext cx="10963203" cy="3798549"/>
        </p:xfrm>
        <a:graphic>
          <a:graphicData uri="http://schemas.openxmlformats.org/drawingml/2006/table">
            <a:tbl>
              <a:tblPr/>
              <a:tblGrid>
                <a:gridCol w="4878198"/>
                <a:gridCol w="6085005"/>
              </a:tblGrid>
              <a:tr h="9496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b="true" sz="2500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Zapier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b="true" sz="2499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Low Complexity, Weak AI.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96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b="true" sz="2500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Make.com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b="true" sz="2500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Medium Complexity, Week 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96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b="true" sz="2500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N8N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b="true" sz="2500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High Complexity, Weak 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96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b="true" sz="2500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NexAgent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00"/>
                        </a:lnSpc>
                        <a:defRPr/>
                      </a:pPr>
                      <a:r>
                        <a:rPr lang="en-US" b="true" sz="2500">
                          <a:solidFill>
                            <a:srgbClr val="FFFFFF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Low Complexity, Strong 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771415"/>
            <a:ext cx="6523645" cy="35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57"/>
              </a:lnSpc>
            </a:pPr>
            <a:r>
              <a:rPr lang="en-US" sz="265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NEXAGENT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45829" y="8997647"/>
            <a:ext cx="1513471" cy="25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0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PAGE 08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7750" y="2147060"/>
            <a:ext cx="7563661" cy="2490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539"/>
              </a:lnSpc>
            </a:pPr>
            <a:r>
              <a:rPr lang="en-US" sz="9539" spc="-715">
                <a:solidFill>
                  <a:srgbClr val="FFFFFF"/>
                </a:solidFill>
                <a:latin typeface="Aileron Light"/>
                <a:ea typeface="Aileron Light"/>
                <a:cs typeface="Aileron Light"/>
                <a:sym typeface="Aileron Light"/>
              </a:rPr>
              <a:t>COMPETITIVE </a:t>
            </a:r>
            <a:r>
              <a:rPr lang="en-US" sz="9539" spc="-715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ANALYSIS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590189" y="1975610"/>
            <a:ext cx="2634797" cy="3763996"/>
          </a:xfrm>
          <a:custGeom>
            <a:avLst/>
            <a:gdLst/>
            <a:ahLst/>
            <a:cxnLst/>
            <a:rect r="r" b="b" t="t" l="l"/>
            <a:pathLst>
              <a:path h="3763996" w="2634797">
                <a:moveTo>
                  <a:pt x="0" y="0"/>
                </a:moveTo>
                <a:lnTo>
                  <a:pt x="2634797" y="0"/>
                </a:lnTo>
                <a:lnTo>
                  <a:pt x="2634797" y="3763996"/>
                </a:lnTo>
                <a:lnTo>
                  <a:pt x="0" y="37639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71415"/>
            <a:ext cx="6523645" cy="35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57"/>
              </a:lnSpc>
            </a:pPr>
            <a:r>
              <a:rPr lang="en-US" sz="2657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NEXAGENT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745829" y="8997647"/>
            <a:ext cx="1513471" cy="25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00"/>
              </a:lnSpc>
              <a:spcBef>
                <a:spcPct val="0"/>
              </a:spcBef>
            </a:pPr>
            <a:r>
              <a:rPr lang="en-US" sz="1900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PAGE 09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2153743"/>
            <a:ext cx="8228681" cy="2923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1206"/>
              </a:lnSpc>
            </a:pPr>
            <a:r>
              <a:rPr lang="en-US" sz="11206" spc="-840">
                <a:solidFill>
                  <a:srgbClr val="1E1E1E"/>
                </a:solidFill>
                <a:latin typeface="Aileron Light"/>
                <a:ea typeface="Aileron Light"/>
                <a:cs typeface="Aileron Light"/>
                <a:sym typeface="Aileron Light"/>
              </a:rPr>
              <a:t>FINANCIAL PROJECTIONS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7750" y="6386190"/>
            <a:ext cx="8096250" cy="1401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3721"/>
              </a:lnSpc>
            </a:pPr>
            <a:r>
              <a:rPr lang="en-US" b="true" sz="3050">
                <a:solidFill>
                  <a:srgbClr val="FF4A0A"/>
                </a:solidFill>
                <a:latin typeface="Aileron Bold"/>
                <a:ea typeface="Aileron Bold"/>
                <a:cs typeface="Aileron Bold"/>
                <a:sym typeface="Aileron Bold"/>
              </a:rPr>
              <a:t>These projections outline our expected user growth, market expansion, and increasing adoption over time.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276431" y="3200755"/>
            <a:ext cx="8187582" cy="5289286"/>
            <a:chOff x="0" y="0"/>
            <a:chExt cx="10916775" cy="7052382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0">
              <a:off x="-374644" y="-314688"/>
              <a:ext cx="12317911" cy="7748132"/>
            </a:xfrm>
            <a:prstGeom prst="rect">
              <a:avLst/>
            </a:prstGeom>
          </p:spPr>
        </p:pic>
        <p:sp>
          <p:nvSpPr>
            <p:cNvPr name="TextBox 8" id="8"/>
            <p:cNvSpPr txBox="true"/>
            <p:nvPr/>
          </p:nvSpPr>
          <p:spPr>
            <a:xfrm rot="-5400000">
              <a:off x="-368023" y="2872441"/>
              <a:ext cx="1074011" cy="299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2"/>
                </a:lnSpc>
                <a:spcBef>
                  <a:spcPct val="0"/>
                </a:spcBef>
              </a:pPr>
              <a:r>
                <a:rPr lang="en-US" b="true" sz="161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USERS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458760" y="6752517"/>
              <a:ext cx="1074011" cy="299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2"/>
                </a:lnSpc>
                <a:spcBef>
                  <a:spcPct val="0"/>
                </a:spcBef>
              </a:pPr>
              <a:r>
                <a:rPr lang="en-US" b="true" sz="161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YEAR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466033" y="19050"/>
              <a:ext cx="1756241" cy="299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2"/>
                </a:lnSpc>
                <a:spcBef>
                  <a:spcPct val="0"/>
                </a:spcBef>
              </a:pPr>
              <a:r>
                <a:rPr lang="en-US" b="true" sz="161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ARR: $ 0.40M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471975" y="19050"/>
              <a:ext cx="1756241" cy="299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2"/>
                </a:lnSpc>
                <a:spcBef>
                  <a:spcPct val="0"/>
                </a:spcBef>
              </a:pPr>
              <a:r>
                <a:rPr lang="en-US" b="true" sz="161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ARR: $ 2.05M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8483613" y="19050"/>
              <a:ext cx="1756241" cy="299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12"/>
                </a:lnSpc>
                <a:spcBef>
                  <a:spcPct val="0"/>
                </a:spcBef>
              </a:pPr>
              <a:r>
                <a:rPr lang="en-US" b="true" sz="1612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ARR: $ 6.5M 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4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2345" y="6320903"/>
            <a:ext cx="3267005" cy="2791370"/>
            <a:chOff x="0" y="0"/>
            <a:chExt cx="1209170" cy="10331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9170" cy="1033130"/>
            </a:xfrm>
            <a:custGeom>
              <a:avLst/>
              <a:gdLst/>
              <a:ahLst/>
              <a:cxnLst/>
              <a:rect r="r" b="b" t="t" l="l"/>
              <a:pathLst>
                <a:path h="1033130" w="1209170">
                  <a:moveTo>
                    <a:pt x="47395" y="0"/>
                  </a:moveTo>
                  <a:lnTo>
                    <a:pt x="1161775" y="0"/>
                  </a:lnTo>
                  <a:cubicBezTo>
                    <a:pt x="1174345" y="0"/>
                    <a:pt x="1186400" y="4993"/>
                    <a:pt x="1195288" y="13882"/>
                  </a:cubicBezTo>
                  <a:cubicBezTo>
                    <a:pt x="1204177" y="22770"/>
                    <a:pt x="1209170" y="34825"/>
                    <a:pt x="1209170" y="47395"/>
                  </a:cubicBezTo>
                  <a:lnTo>
                    <a:pt x="1209170" y="985735"/>
                  </a:lnTo>
                  <a:cubicBezTo>
                    <a:pt x="1209170" y="1011911"/>
                    <a:pt x="1187951" y="1033130"/>
                    <a:pt x="1161775" y="1033130"/>
                  </a:cubicBezTo>
                  <a:lnTo>
                    <a:pt x="47395" y="1033130"/>
                  </a:lnTo>
                  <a:cubicBezTo>
                    <a:pt x="21219" y="1033130"/>
                    <a:pt x="0" y="1011911"/>
                    <a:pt x="0" y="985735"/>
                  </a:cubicBezTo>
                  <a:lnTo>
                    <a:pt x="0" y="47395"/>
                  </a:lnTo>
                  <a:cubicBezTo>
                    <a:pt x="0" y="21219"/>
                    <a:pt x="21219" y="0"/>
                    <a:pt x="4739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1209170" cy="985505"/>
            </a:xfrm>
            <a:prstGeom prst="rect">
              <a:avLst/>
            </a:prstGeom>
          </p:spPr>
          <p:txBody>
            <a:bodyPr anchor="ctr" rtlCol="false" tIns="36149" lIns="36149" bIns="36149" rIns="36149"/>
            <a:lstStyle/>
            <a:p>
              <a:pPr algn="ctr">
                <a:lnSpc>
                  <a:spcPts val="265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82988" y="6522328"/>
            <a:ext cx="2605056" cy="1809940"/>
            <a:chOff x="0" y="0"/>
            <a:chExt cx="10000523" cy="6948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00523" cy="6948160"/>
            </a:xfrm>
            <a:custGeom>
              <a:avLst/>
              <a:gdLst/>
              <a:ahLst/>
              <a:cxnLst/>
              <a:rect r="r" b="b" t="t" l="l"/>
              <a:pathLst>
                <a:path h="6948160" w="10000523">
                  <a:moveTo>
                    <a:pt x="0" y="6596120"/>
                  </a:moveTo>
                  <a:lnTo>
                    <a:pt x="0" y="352040"/>
                  </a:lnTo>
                  <a:cubicBezTo>
                    <a:pt x="0" y="157492"/>
                    <a:pt x="340018" y="0"/>
                    <a:pt x="760040" y="0"/>
                  </a:cubicBezTo>
                  <a:lnTo>
                    <a:pt x="9240483" y="0"/>
                  </a:lnTo>
                  <a:cubicBezTo>
                    <a:pt x="9660506" y="0"/>
                    <a:pt x="10000523" y="158418"/>
                    <a:pt x="10000523" y="352040"/>
                  </a:cubicBezTo>
                  <a:lnTo>
                    <a:pt x="10000523" y="6596120"/>
                  </a:lnTo>
                  <a:cubicBezTo>
                    <a:pt x="10000523" y="6790668"/>
                    <a:pt x="9660506" y="6948160"/>
                    <a:pt x="9240483" y="6948160"/>
                  </a:cubicBezTo>
                  <a:lnTo>
                    <a:pt x="760040" y="6948160"/>
                  </a:lnTo>
                  <a:cubicBezTo>
                    <a:pt x="342018" y="6948160"/>
                    <a:pt x="0" y="6790668"/>
                    <a:pt x="0" y="6596120"/>
                  </a:cubicBezTo>
                  <a:close/>
                </a:path>
              </a:pathLst>
            </a:custGeom>
            <a:blipFill>
              <a:blip r:embed="rId3"/>
              <a:stretch>
                <a:fillRect l="0" t="-75848" r="0" b="-1629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138850" y="8482204"/>
            <a:ext cx="2010300" cy="49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972"/>
              </a:lnSpc>
            </a:pPr>
            <a:r>
              <a:rPr lang="en-US" sz="161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Syed M. Taha</a:t>
            </a:r>
          </a:p>
          <a:p>
            <a:pPr algn="ctr">
              <a:lnSpc>
                <a:spcPts val="1972"/>
              </a:lnSpc>
            </a:pPr>
            <a:r>
              <a:rPr lang="en-US" sz="1616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Front-end Developer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475715" y="6282461"/>
            <a:ext cx="3267005" cy="2829812"/>
            <a:chOff x="0" y="0"/>
            <a:chExt cx="1209170" cy="10473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9170" cy="1047358"/>
            </a:xfrm>
            <a:custGeom>
              <a:avLst/>
              <a:gdLst/>
              <a:ahLst/>
              <a:cxnLst/>
              <a:rect r="r" b="b" t="t" l="l"/>
              <a:pathLst>
                <a:path h="1047358" w="1209170">
                  <a:moveTo>
                    <a:pt x="47395" y="0"/>
                  </a:moveTo>
                  <a:lnTo>
                    <a:pt x="1161775" y="0"/>
                  </a:lnTo>
                  <a:cubicBezTo>
                    <a:pt x="1174345" y="0"/>
                    <a:pt x="1186400" y="4993"/>
                    <a:pt x="1195288" y="13882"/>
                  </a:cubicBezTo>
                  <a:cubicBezTo>
                    <a:pt x="1204177" y="22770"/>
                    <a:pt x="1209170" y="34825"/>
                    <a:pt x="1209170" y="47395"/>
                  </a:cubicBezTo>
                  <a:lnTo>
                    <a:pt x="1209170" y="999963"/>
                  </a:lnTo>
                  <a:cubicBezTo>
                    <a:pt x="1209170" y="1026139"/>
                    <a:pt x="1187951" y="1047358"/>
                    <a:pt x="1161775" y="1047358"/>
                  </a:cubicBezTo>
                  <a:lnTo>
                    <a:pt x="47395" y="1047358"/>
                  </a:lnTo>
                  <a:cubicBezTo>
                    <a:pt x="21219" y="1047358"/>
                    <a:pt x="0" y="1026139"/>
                    <a:pt x="0" y="999963"/>
                  </a:cubicBezTo>
                  <a:lnTo>
                    <a:pt x="0" y="47395"/>
                  </a:lnTo>
                  <a:cubicBezTo>
                    <a:pt x="0" y="21219"/>
                    <a:pt x="21219" y="0"/>
                    <a:pt x="4739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1209170" cy="999733"/>
            </a:xfrm>
            <a:prstGeom prst="rect">
              <a:avLst/>
            </a:prstGeom>
          </p:spPr>
          <p:txBody>
            <a:bodyPr anchor="ctr" rtlCol="false" tIns="36149" lIns="36149" bIns="36149" rIns="36149"/>
            <a:lstStyle/>
            <a:p>
              <a:pPr algn="ctr">
                <a:lnSpc>
                  <a:spcPts val="265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806689" y="6483886"/>
            <a:ext cx="2605056" cy="1809940"/>
            <a:chOff x="0" y="0"/>
            <a:chExt cx="10000523" cy="6948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00523" cy="6948160"/>
            </a:xfrm>
            <a:custGeom>
              <a:avLst/>
              <a:gdLst/>
              <a:ahLst/>
              <a:cxnLst/>
              <a:rect r="r" b="b" t="t" l="l"/>
              <a:pathLst>
                <a:path h="6948160" w="10000523">
                  <a:moveTo>
                    <a:pt x="0" y="6596120"/>
                  </a:moveTo>
                  <a:lnTo>
                    <a:pt x="0" y="352040"/>
                  </a:lnTo>
                  <a:cubicBezTo>
                    <a:pt x="0" y="157492"/>
                    <a:pt x="340018" y="0"/>
                    <a:pt x="760040" y="0"/>
                  </a:cubicBezTo>
                  <a:lnTo>
                    <a:pt x="9240483" y="0"/>
                  </a:lnTo>
                  <a:cubicBezTo>
                    <a:pt x="9660506" y="0"/>
                    <a:pt x="10000523" y="158418"/>
                    <a:pt x="10000523" y="352040"/>
                  </a:cubicBezTo>
                  <a:lnTo>
                    <a:pt x="10000523" y="6596120"/>
                  </a:lnTo>
                  <a:cubicBezTo>
                    <a:pt x="10000523" y="6790668"/>
                    <a:pt x="9660506" y="6948160"/>
                    <a:pt x="9240483" y="6948160"/>
                  </a:cubicBezTo>
                  <a:lnTo>
                    <a:pt x="760040" y="6948160"/>
                  </a:lnTo>
                  <a:cubicBezTo>
                    <a:pt x="342018" y="6948160"/>
                    <a:pt x="0" y="6790668"/>
                    <a:pt x="0" y="6596120"/>
                  </a:cubicBezTo>
                  <a:close/>
                </a:path>
              </a:pathLst>
            </a:custGeom>
            <a:blipFill>
              <a:blip r:embed="rId4"/>
              <a:stretch>
                <a:fillRect l="0" t="-6276" r="0" b="-8586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425961" y="8443762"/>
            <a:ext cx="1366514" cy="49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972"/>
              </a:lnSpc>
            </a:pPr>
            <a:r>
              <a:rPr lang="en-US" sz="161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Maarij Bukhari</a:t>
            </a:r>
          </a:p>
          <a:p>
            <a:pPr algn="ctr">
              <a:lnSpc>
                <a:spcPts val="1972"/>
              </a:lnSpc>
            </a:pPr>
            <a:r>
              <a:rPr lang="en-US" sz="1616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AI-Developer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628975" y="6282461"/>
            <a:ext cx="3267005" cy="2829812"/>
            <a:chOff x="0" y="0"/>
            <a:chExt cx="1209170" cy="10473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09170" cy="1047358"/>
            </a:xfrm>
            <a:custGeom>
              <a:avLst/>
              <a:gdLst/>
              <a:ahLst/>
              <a:cxnLst/>
              <a:rect r="r" b="b" t="t" l="l"/>
              <a:pathLst>
                <a:path h="1047358" w="1209170">
                  <a:moveTo>
                    <a:pt x="47395" y="0"/>
                  </a:moveTo>
                  <a:lnTo>
                    <a:pt x="1161775" y="0"/>
                  </a:lnTo>
                  <a:cubicBezTo>
                    <a:pt x="1174345" y="0"/>
                    <a:pt x="1186400" y="4993"/>
                    <a:pt x="1195288" y="13882"/>
                  </a:cubicBezTo>
                  <a:cubicBezTo>
                    <a:pt x="1204177" y="22770"/>
                    <a:pt x="1209170" y="34825"/>
                    <a:pt x="1209170" y="47395"/>
                  </a:cubicBezTo>
                  <a:lnTo>
                    <a:pt x="1209170" y="999963"/>
                  </a:lnTo>
                  <a:cubicBezTo>
                    <a:pt x="1209170" y="1026139"/>
                    <a:pt x="1187951" y="1047358"/>
                    <a:pt x="1161775" y="1047358"/>
                  </a:cubicBezTo>
                  <a:lnTo>
                    <a:pt x="47395" y="1047358"/>
                  </a:lnTo>
                  <a:cubicBezTo>
                    <a:pt x="21219" y="1047358"/>
                    <a:pt x="0" y="1026139"/>
                    <a:pt x="0" y="999963"/>
                  </a:cubicBezTo>
                  <a:lnTo>
                    <a:pt x="0" y="47395"/>
                  </a:lnTo>
                  <a:cubicBezTo>
                    <a:pt x="0" y="21219"/>
                    <a:pt x="21219" y="0"/>
                    <a:pt x="4739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47625"/>
              <a:ext cx="1209170" cy="999733"/>
            </a:xfrm>
            <a:prstGeom prst="rect">
              <a:avLst/>
            </a:prstGeom>
          </p:spPr>
          <p:txBody>
            <a:bodyPr anchor="ctr" rtlCol="false" tIns="36149" lIns="36149" bIns="36149" rIns="36149"/>
            <a:lstStyle/>
            <a:p>
              <a:pPr algn="ctr">
                <a:lnSpc>
                  <a:spcPts val="265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960280" y="6483886"/>
            <a:ext cx="2605056" cy="1809940"/>
            <a:chOff x="0" y="0"/>
            <a:chExt cx="10000523" cy="6948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00523" cy="6948160"/>
            </a:xfrm>
            <a:custGeom>
              <a:avLst/>
              <a:gdLst/>
              <a:ahLst/>
              <a:cxnLst/>
              <a:rect r="r" b="b" t="t" l="l"/>
              <a:pathLst>
                <a:path h="6948160" w="10000523">
                  <a:moveTo>
                    <a:pt x="0" y="6596120"/>
                  </a:moveTo>
                  <a:lnTo>
                    <a:pt x="0" y="352040"/>
                  </a:lnTo>
                  <a:cubicBezTo>
                    <a:pt x="0" y="157492"/>
                    <a:pt x="340018" y="0"/>
                    <a:pt x="760040" y="0"/>
                  </a:cubicBezTo>
                  <a:lnTo>
                    <a:pt x="9240483" y="0"/>
                  </a:lnTo>
                  <a:cubicBezTo>
                    <a:pt x="9660506" y="0"/>
                    <a:pt x="10000523" y="158418"/>
                    <a:pt x="10000523" y="352040"/>
                  </a:cubicBezTo>
                  <a:lnTo>
                    <a:pt x="10000523" y="6596120"/>
                  </a:lnTo>
                  <a:cubicBezTo>
                    <a:pt x="10000523" y="6790668"/>
                    <a:pt x="9660506" y="6948160"/>
                    <a:pt x="9240483" y="6948160"/>
                  </a:cubicBezTo>
                  <a:lnTo>
                    <a:pt x="760040" y="6948160"/>
                  </a:lnTo>
                  <a:cubicBezTo>
                    <a:pt x="342018" y="6948160"/>
                    <a:pt x="0" y="6790668"/>
                    <a:pt x="0" y="6596120"/>
                  </a:cubicBezTo>
                  <a:close/>
                </a:path>
              </a:pathLst>
            </a:custGeom>
            <a:blipFill>
              <a:blip r:embed="rId5"/>
              <a:stretch>
                <a:fillRect l="0" t="-21965" r="0" b="-21965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295725" y="8443762"/>
            <a:ext cx="1920152" cy="49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972"/>
              </a:lnSpc>
            </a:pPr>
            <a:r>
              <a:rPr lang="en-US" sz="1616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Abdullah Yaqoob</a:t>
            </a:r>
          </a:p>
          <a:p>
            <a:pPr algn="ctr">
              <a:lnSpc>
                <a:spcPts val="1972"/>
              </a:lnSpc>
            </a:pPr>
            <a:r>
              <a:rPr lang="en-US" sz="1616" strike="noStrike" u="none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Back-end Developer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510498" y="3150568"/>
            <a:ext cx="3267005" cy="2697216"/>
            <a:chOff x="0" y="0"/>
            <a:chExt cx="4356007" cy="3596288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356007" cy="3596288"/>
              <a:chOff x="0" y="0"/>
              <a:chExt cx="1313434" cy="108436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313434" cy="1084362"/>
              </a:xfrm>
              <a:custGeom>
                <a:avLst/>
                <a:gdLst/>
                <a:ahLst/>
                <a:cxnLst/>
                <a:rect r="r" b="b" t="t" l="l"/>
                <a:pathLst>
                  <a:path h="1084362" w="1313434">
                    <a:moveTo>
                      <a:pt x="47395" y="0"/>
                    </a:moveTo>
                    <a:lnTo>
                      <a:pt x="1266039" y="0"/>
                    </a:lnTo>
                    <a:cubicBezTo>
                      <a:pt x="1292215" y="0"/>
                      <a:pt x="1313434" y="21219"/>
                      <a:pt x="1313434" y="47395"/>
                    </a:cubicBezTo>
                    <a:lnTo>
                      <a:pt x="1313434" y="1036967"/>
                    </a:lnTo>
                    <a:cubicBezTo>
                      <a:pt x="1313434" y="1063142"/>
                      <a:pt x="1292215" y="1084362"/>
                      <a:pt x="1266039" y="1084362"/>
                    </a:cubicBezTo>
                    <a:lnTo>
                      <a:pt x="47395" y="1084362"/>
                    </a:lnTo>
                    <a:cubicBezTo>
                      <a:pt x="21219" y="1084362"/>
                      <a:pt x="0" y="1063142"/>
                      <a:pt x="0" y="1036967"/>
                    </a:cubicBezTo>
                    <a:lnTo>
                      <a:pt x="0" y="47395"/>
                    </a:lnTo>
                    <a:cubicBezTo>
                      <a:pt x="0" y="21219"/>
                      <a:pt x="21219" y="0"/>
                      <a:pt x="473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47625"/>
                <a:ext cx="1313434" cy="1036736"/>
              </a:xfrm>
              <a:prstGeom prst="rect">
                <a:avLst/>
              </a:prstGeom>
            </p:spPr>
            <p:txBody>
              <a:bodyPr anchor="ctr" rtlCol="false" tIns="33280" lIns="33280" bIns="33280" rIns="33280"/>
              <a:lstStyle/>
              <a:p>
                <a:pPr algn="ctr">
                  <a:lnSpc>
                    <a:spcPts val="2657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441740" y="272647"/>
              <a:ext cx="3473408" cy="2221683"/>
              <a:chOff x="0" y="0"/>
              <a:chExt cx="10862844" cy="694816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862844" cy="6948160"/>
              </a:xfrm>
              <a:custGeom>
                <a:avLst/>
                <a:gdLst/>
                <a:ahLst/>
                <a:cxnLst/>
                <a:rect r="r" b="b" t="t" l="l"/>
                <a:pathLst>
                  <a:path h="6948160" w="10862844">
                    <a:moveTo>
                      <a:pt x="0" y="6596120"/>
                    </a:moveTo>
                    <a:lnTo>
                      <a:pt x="0" y="352040"/>
                    </a:lnTo>
                    <a:cubicBezTo>
                      <a:pt x="0" y="157492"/>
                      <a:pt x="369337" y="0"/>
                      <a:pt x="825576" y="0"/>
                    </a:cubicBezTo>
                    <a:lnTo>
                      <a:pt x="10037268" y="0"/>
                    </a:lnTo>
                    <a:cubicBezTo>
                      <a:pt x="10493507" y="0"/>
                      <a:pt x="10862844" y="158418"/>
                      <a:pt x="10862844" y="352040"/>
                    </a:cubicBezTo>
                    <a:lnTo>
                      <a:pt x="10862844" y="6596120"/>
                    </a:lnTo>
                    <a:cubicBezTo>
                      <a:pt x="10862844" y="6790668"/>
                      <a:pt x="10493507" y="6948160"/>
                      <a:pt x="10037268" y="6948160"/>
                    </a:cubicBezTo>
                    <a:lnTo>
                      <a:pt x="825576" y="6948160"/>
                    </a:lnTo>
                    <a:cubicBezTo>
                      <a:pt x="371509" y="6948160"/>
                      <a:pt x="0" y="6790668"/>
                      <a:pt x="0" y="659612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-9617" r="0" b="-46724"/>
                </a:stretch>
              </a:blipFill>
            </p:spPr>
          </p:sp>
        </p:grpSp>
        <p:sp>
          <p:nvSpPr>
            <p:cNvPr name="TextBox 26" id="26"/>
            <p:cNvSpPr txBox="true"/>
            <p:nvPr/>
          </p:nvSpPr>
          <p:spPr>
            <a:xfrm rot="0">
              <a:off x="950670" y="2729325"/>
              <a:ext cx="2454666" cy="6644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1976"/>
                </a:lnSpc>
              </a:pPr>
              <a:r>
                <a:rPr lang="en-US" sz="1620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Dr. Humaira Waqas</a:t>
              </a:r>
            </a:p>
            <a:p>
              <a:pPr algn="ctr">
                <a:lnSpc>
                  <a:spcPts val="1976"/>
                </a:lnSpc>
              </a:pPr>
              <a:r>
                <a:rPr lang="en-US" sz="1620" strike="noStrike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Faculty Advisor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28700" y="771415"/>
            <a:ext cx="6523645" cy="35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57"/>
              </a:lnSpc>
            </a:pPr>
            <a:r>
              <a:rPr lang="en-US" sz="265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NEXAGENT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745829" y="8997647"/>
            <a:ext cx="1513471" cy="25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190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PAGE 10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1816177"/>
            <a:ext cx="6179225" cy="150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11206"/>
              </a:lnSpc>
            </a:pPr>
            <a:r>
              <a:rPr lang="en-US" sz="11206" spc="-840">
                <a:solidFill>
                  <a:srgbClr val="FFFFFF"/>
                </a:solidFill>
                <a:latin typeface="Aileron Light"/>
                <a:ea typeface="Aileron Light"/>
                <a:cs typeface="Aileron Light"/>
                <a:sym typeface="Aileron Light"/>
              </a:rPr>
              <a:t>OUR </a:t>
            </a:r>
            <a:r>
              <a:rPr lang="en-US" sz="11206" spc="-840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TEAM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4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71415"/>
            <a:ext cx="6523645" cy="35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57"/>
              </a:lnSpc>
            </a:pPr>
            <a:r>
              <a:rPr lang="en-US" sz="265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NEXAGENT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77404"/>
            <a:ext cx="16144875" cy="496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12893"/>
              </a:lnSpc>
            </a:pPr>
            <a:r>
              <a:rPr lang="en-US" sz="12893" spc="-967">
                <a:solidFill>
                  <a:srgbClr val="FFFFFF"/>
                </a:solidFill>
                <a:latin typeface="Aileron Light"/>
                <a:ea typeface="Aileron Light"/>
                <a:cs typeface="Aileron Light"/>
                <a:sym typeface="Aileron Light"/>
              </a:rPr>
              <a:t>JOIN US IN BUILDING THE FUTURE OF </a:t>
            </a:r>
            <a:r>
              <a:rPr lang="en-US" sz="12893" spc="-967">
                <a:solidFill>
                  <a:srgbClr val="000000"/>
                </a:solidFill>
                <a:latin typeface="Aileron Light"/>
                <a:ea typeface="Aileron Light"/>
                <a:cs typeface="Aileron Light"/>
                <a:sym typeface="Aileron Light"/>
              </a:rPr>
              <a:t>AUTOMATION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67583" y="5640122"/>
            <a:ext cx="5491717" cy="102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2657"/>
              </a:lnSpc>
            </a:pPr>
            <a:r>
              <a:rPr lang="en-US" sz="265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PARTNER WITH US TO SCALE AI-POWERED AUTOMATION FOR SMES.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901574"/>
            <a:ext cx="4412531" cy="35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2657"/>
              </a:lnSpc>
            </a:pPr>
            <a:r>
              <a:rPr lang="en-US" sz="265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NEXTAGENT1@GMAIL.COM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79393" y="7901574"/>
            <a:ext cx="6387237" cy="35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657"/>
              </a:lnSpc>
            </a:pPr>
            <a:r>
              <a:rPr lang="en-US" sz="2657" u="sng">
                <a:solidFill>
                  <a:srgbClr val="FFFFFF"/>
                </a:solidFill>
                <a:latin typeface="Aileron Light"/>
                <a:ea typeface="Aileron Light"/>
                <a:cs typeface="Aileron Light"/>
                <a:sym typeface="Aileron Light"/>
                <a:hlinkClick r:id="rId3" tooltip="https://nex-agent-azure.vercel.app"/>
              </a:rPr>
              <a:t>HTTPS://NEX-AGENT-AZURE.VERCEL.APP/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71492" y="7901574"/>
            <a:ext cx="2087808" cy="35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2657"/>
              </a:lnSpc>
            </a:pPr>
            <a:r>
              <a:rPr lang="en-US" sz="265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@NEXAGENT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45829" y="8997647"/>
            <a:ext cx="1513471" cy="25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0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PAGE 11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028700" y="7501524"/>
            <a:ext cx="1623060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DAGssdaTlr0</dc:identifier>
  <dcterms:modified xsi:type="dcterms:W3CDTF">2011-08-01T06:04:30Z</dcterms:modified>
  <cp:revision>1</cp:revision>
  <dc:title>Orange and White Modern Startup Pitch Deck Presentation</dc:title>
</cp:coreProperties>
</file>